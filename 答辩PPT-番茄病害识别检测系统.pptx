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人工智能基础(A) / 选题四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822960"/>
            <a:ext cx="64008" cy="1417320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786384"/>
            <a:ext cx="813816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700" b="1">
                <a:solidFill>
                  <a:srgbClr val="17201A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371600"/>
            <a:ext cx="80467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47067"/>
                </a:solidFill>
                <a:latin typeface="Aptos"/>
              </a:rPr>
              <a:t>深度学习在农业中的应用 / CNN + Transfer Learning + Gradio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938528"/>
            <a:ext cx="6675120" cy="5029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400" b="0">
                <a:solidFill>
                  <a:srgbClr val="17201A"/>
                </a:solidFill>
                <a:latin typeface="Microsoft YaHei"/>
              </a:rPr>
              <a:t>PlantVillage 番茄叶片 10 类分类任务；完整覆盖数据预处理、模型训练、迁移学习、评估可视化与交互部署。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" y="3154680"/>
            <a:ext cx="1737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7824" y="3255264"/>
            <a:ext cx="151790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96.6%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621024"/>
            <a:ext cx="15179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测试集 Top-1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88920" y="3154680"/>
            <a:ext cx="1737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98648" y="3255264"/>
            <a:ext cx="151790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3621024"/>
            <a:ext cx="15179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番茄病害/健康类别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3154680"/>
            <a:ext cx="1737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10328" y="3255264"/>
            <a:ext cx="151790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11k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0328" y="3621024"/>
            <a:ext cx="15179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PlantVillage 图像规模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3154680"/>
            <a:ext cx="173736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22008" y="3255264"/>
            <a:ext cx="151790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Top-3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22008" y="3621024"/>
            <a:ext cx="151790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网页实时预测输出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" y="5321808"/>
            <a:ext cx="978408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5559552"/>
            <a:ext cx="859536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答辩重点：核心原理与算法实现；不展开宏观背景，直接展示工程流程和实验结果。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课程要求对齐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把评分点转化为可检查的代码、实验和演示证据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64208"/>
            <a:ext cx="9281160" cy="411480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28216"/>
            <a:ext cx="203911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课程要求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62072" y="1728216"/>
            <a:ext cx="3867911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项目实现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9712" y="1728216"/>
            <a:ext cx="304495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证据文件/结果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075688"/>
            <a:ext cx="9281160" cy="411480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139696"/>
            <a:ext cx="203911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完整训练脚本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2139696"/>
            <a:ext cx="3867911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Dataset/DataLoader、模型、训练循环、验证评估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2139696"/>
            <a:ext cx="304495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train.py + src/*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487168"/>
            <a:ext cx="9281160" cy="411480"/>
          </a:xfrm>
          <a:prstGeom prst="rect">
            <a:avLst/>
          </a:prstGeom>
          <a:solidFill>
            <a:srgbClr val="EEF3EC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2551176"/>
            <a:ext cx="203911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Top-1 ≥ 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2551176"/>
            <a:ext cx="3867911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最佳 MobileNetV3-small 迁移学习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39712" y="2551176"/>
            <a:ext cx="304495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96.6%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898648"/>
            <a:ext cx="9281160" cy="411480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2962656"/>
            <a:ext cx="203911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CNN 与 Shape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62072" y="2962656"/>
            <a:ext cx="3867911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从输入到分类头的 Tensor Shape 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9712" y="2962656"/>
            <a:ext cx="304495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model_architecture.txt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310128"/>
            <a:ext cx="9281160" cy="411480"/>
          </a:xfrm>
          <a:prstGeom prst="rect">
            <a:avLst/>
          </a:prstGeom>
          <a:solidFill>
            <a:srgbClr val="EEF3EC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3374136"/>
            <a:ext cx="203911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迁移学习冻结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3374136"/>
            <a:ext cx="3867911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fc_only / fc_then_layer4 / scratch 对比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3374136"/>
            <a:ext cx="304495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6 组实验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721608"/>
            <a:ext cx="9281160" cy="411480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3785616"/>
            <a:ext cx="203911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评估可视化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62072" y="3785616"/>
            <a:ext cx="3867911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Loss/Acc、混淆矩阵、分类报告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9712" y="3785616"/>
            <a:ext cx="304495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outputs/experiments/*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133088"/>
            <a:ext cx="9281160" cy="411480"/>
          </a:xfrm>
          <a:prstGeom prst="rect">
            <a:avLst/>
          </a:prstGeom>
          <a:solidFill>
            <a:srgbClr val="EEF3EC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4197096"/>
            <a:ext cx="203911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进阶挑战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62072" y="4197096"/>
            <a:ext cx="3867911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Gradio Top-3 预测；3 骨干对比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9712" y="4197096"/>
            <a:ext cx="3044952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app.py + 对比图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166360"/>
            <a:ext cx="87782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400" b="1">
                <a:solidFill>
                  <a:srgbClr val="2F6B4F"/>
                </a:solidFill>
                <a:latin typeface="Microsoft YaHei"/>
              </a:rPr>
              <a:t>交付逻辑：源码负责可复现，实验报告负责可解释，PPT/演示视频负责可展示。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数据集与预处理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PlantVillage Tomato：10 类病害/健康叶片，固定随机种子确保复现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83080"/>
            <a:ext cx="1417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883664"/>
            <a:ext cx="119786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10000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249424"/>
            <a:ext cx="11978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Train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783080"/>
            <a:ext cx="1417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95728" y="1883664"/>
            <a:ext cx="119786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500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95728" y="2249424"/>
            <a:ext cx="11978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Validation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13632" y="1783080"/>
            <a:ext cx="141732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1883664"/>
            <a:ext cx="119786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249424"/>
            <a:ext cx="119786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12801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1">
                <a:solidFill>
                  <a:srgbClr val="2F6B4F"/>
                </a:solidFill>
                <a:latin typeface="Microsoft YaHei"/>
              </a:rPr>
              <a:t>划分策略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264408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182112"/>
            <a:ext cx="5047488" cy="33009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70" b="0">
                <a:solidFill>
                  <a:srgbClr val="17201A"/>
                </a:solidFill>
                <a:latin typeface="Microsoft YaHei"/>
              </a:rPr>
              <a:t>原始 train 作为训练集；原始 val 按固定 seed 1:1 拆分为验证集与测试集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611879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59" y="3529584"/>
            <a:ext cx="5047488" cy="33009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70" b="0">
                <a:solidFill>
                  <a:srgbClr val="17201A"/>
                </a:solidFill>
                <a:latin typeface="Microsoft YaHei"/>
              </a:rPr>
              <a:t>固定 Python / NumPy / PyTorch 随机种子，报告中同步说明复现设置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959352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59" y="3877056"/>
            <a:ext cx="5047488" cy="33009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70" b="0">
                <a:solidFill>
                  <a:srgbClr val="17201A"/>
                </a:solidFill>
                <a:latin typeface="Microsoft YaHei"/>
              </a:rPr>
              <a:t>类别顺序由 ImageFolder 读取并保存，避免预测标签与训练标签错位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737360"/>
            <a:ext cx="3977639" cy="2999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1965960"/>
            <a:ext cx="20116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00" b="1">
                <a:solidFill>
                  <a:srgbClr val="17201A"/>
                </a:solidFill>
                <a:latin typeface="Aptos"/>
              </a:rPr>
              <a:t>Transform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2280" y="2505456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76872" y="2423160"/>
            <a:ext cx="303580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Resize: 224 × 224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2898648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76872" y="2816352"/>
            <a:ext cx="303580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RandomHorizontalFlip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12280" y="3291839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76872" y="3209544"/>
            <a:ext cx="303580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RandomRotation: ±15°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12280" y="3685032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76872" y="3602736"/>
            <a:ext cx="303580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ToTensor + ImageNet Normalize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12280" y="4078224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76872" y="3995928"/>
            <a:ext cx="303580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Valid/Test 仅确定性预处理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CNN 核心结构与 Tensor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从局部纹理到病害类别：卷积特征逐层抽象，分类头输出 10 维概率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84831"/>
            <a:ext cx="132588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157984"/>
            <a:ext cx="1216152" cy="6035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Input
[B,3,224,224]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4884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331720" y="2084831"/>
            <a:ext cx="1600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86584" y="2157984"/>
            <a:ext cx="1490472" cy="6035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Conv/BN/ReLU
[B,64,112,112]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51960" y="2084831"/>
            <a:ext cx="16002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06824" y="2157984"/>
            <a:ext cx="1490472" cy="6035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MaxPool+Blocks
[B,64,56,56]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8932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200" y="2084831"/>
            <a:ext cx="141732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27064" y="2157984"/>
            <a:ext cx="1307592" cy="6035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Layer2-4
[B,512,7,7]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80" y="2432303"/>
            <a:ext cx="292608" cy="18288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863840" y="2084831"/>
            <a:ext cx="1508760" cy="713232"/>
          </a:xfrm>
          <a:prstGeom prst="rect">
            <a:avLst/>
          </a:prstGeom>
          <a:solidFill>
            <a:srgbClr val="EEF3EC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18704" y="2157984"/>
            <a:ext cx="1399031" cy="6035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AvgPool+Linear
[B,10]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456432"/>
            <a:ext cx="12801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1">
                <a:solidFill>
                  <a:srgbClr val="2F6B4F"/>
                </a:solidFill>
                <a:latin typeface="Microsoft YaHei"/>
              </a:rPr>
              <a:t>关键组件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803904"/>
            <a:ext cx="9509760" cy="6400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300" b="0">
                <a:solidFill>
                  <a:srgbClr val="17201A"/>
                </a:solidFill>
                <a:latin typeface="Microsoft YaHei"/>
              </a:rPr>
              <a:t>Conv2D 提取叶片斑点、边缘和颜色纹理；MaxPool 降低空间分辨率并增强平移鲁棒性；ReLU 引入非线性；Dropout/权重衰减缓解过拟合；Linear 将高层语义映射到 10 类。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74920"/>
            <a:ext cx="86868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50" b="0">
                <a:solidFill>
                  <a:srgbClr val="647067"/>
                </a:solidFill>
                <a:latin typeface="Microsoft YaHei"/>
              </a:rPr>
              <a:t>报告中保存模型结构、参数量和 Tensor Shape 变换，对应课程“模型架构图/Shape”要求。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迁移学习与冻结策略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冻结不是装饰项：它决定哪些 ImageNet 特征被保留，哪些层适配番茄病害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19072"/>
            <a:ext cx="8869680" cy="502920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783080"/>
            <a:ext cx="18105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33472" y="1783080"/>
            <a:ext cx="20391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训练参数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2312" y="1783080"/>
            <a:ext cx="350215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目的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1783080"/>
            <a:ext cx="107899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测试准确率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21991"/>
            <a:ext cx="886968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285999"/>
            <a:ext cx="18105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From Scratch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33472" y="2285999"/>
            <a:ext cx="20391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全模型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285999"/>
            <a:ext cx="350215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观察无预训练基线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285999"/>
            <a:ext cx="107899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93.0%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724912"/>
            <a:ext cx="8869680" cy="502920"/>
          </a:xfrm>
          <a:prstGeom prst="rect">
            <a:avLst/>
          </a:prstGeom>
          <a:solidFill>
            <a:srgbClr val="EEF3EC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788920"/>
            <a:ext cx="18105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fc_only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2788920"/>
            <a:ext cx="20391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仅最后分类层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82312" y="2788920"/>
            <a:ext cx="350215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验证“冻结全部 backbone”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788920"/>
            <a:ext cx="107899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89.0%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227832"/>
            <a:ext cx="8869680" cy="502920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291840"/>
            <a:ext cx="18105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fc_then_layer4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33472" y="3291840"/>
            <a:ext cx="203911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分类层 + 尾部特征层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82312" y="3291840"/>
            <a:ext cx="350215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冻结前面 N 层，微调高层语义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291840"/>
            <a:ext cx="1078992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95.4%~96.6%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4069080"/>
            <a:ext cx="81381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70432" y="4315968"/>
            <a:ext cx="128016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19" b="1">
                <a:solidFill>
                  <a:srgbClr val="2F6B4F"/>
                </a:solidFill>
                <a:latin typeface="Microsoft YaHei"/>
              </a:rPr>
              <a:t>冻结前面 N 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279392"/>
            <a:ext cx="1143000" cy="2377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743200" y="4315968"/>
            <a:ext cx="114300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720" b="0">
                <a:solidFill>
                  <a:srgbClr val="647067"/>
                </a:solidFill>
                <a:latin typeface="Microsoft YaHei"/>
              </a:rPr>
              <a:t>浅层纹理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279392"/>
            <a:ext cx="1143000" cy="2377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51960" y="4315968"/>
            <a:ext cx="114300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720" b="0">
                <a:solidFill>
                  <a:srgbClr val="647067"/>
                </a:solidFill>
                <a:latin typeface="Microsoft YaHei"/>
              </a:rPr>
              <a:t>中层形状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4279392"/>
            <a:ext cx="1143000" cy="237744"/>
          </a:xfrm>
          <a:prstGeom prst="rect">
            <a:avLst/>
          </a:prstGeom>
          <a:solidFill>
            <a:srgbClr val="EEF3EC"/>
          </a:solidFill>
          <a:ln>
            <a:solidFill>
              <a:srgbClr val="EEF3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60720" y="4315968"/>
            <a:ext cx="114300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720" b="0">
                <a:solidFill>
                  <a:srgbClr val="2F6B4F"/>
                </a:solidFill>
                <a:latin typeface="Microsoft YaHei"/>
              </a:rPr>
              <a:t>高层语义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4279392"/>
            <a:ext cx="1143000" cy="237744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269480" y="4315968"/>
            <a:ext cx="1143000" cy="14630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720" b="0">
                <a:solidFill>
                  <a:srgbClr val="FFFFFF"/>
                </a:solidFill>
                <a:latin typeface="Microsoft YaHei"/>
              </a:rPr>
              <a:t>分类头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120640"/>
            <a:ext cx="83210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70" b="1">
                <a:solidFill>
                  <a:srgbClr val="17201A"/>
                </a:solidFill>
                <a:latin typeface="Microsoft YaHei"/>
              </a:rPr>
              <a:t>结论：仅训练分类头不足以适配病害细粒度差异；解冻尾部特征层后，迁移学习明显优于从头训练和 fc_only。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工程实现结构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按 PyTorch 项目组织拆分，训练、评估、部署互相解耦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78308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856231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src/config.py
实验配置 / seed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78308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2384" y="1856231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src/data.py
Dataset / DataLoader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78308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21224" y="1856231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src/models.py
Backbone / Freeze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78308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70064" y="1856231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src/trainer.py
训练循环 / 验证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0240" y="306324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75104" y="3136392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src/evaluator.py
报告 / 混淆矩阵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69080" y="306324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23944" y="3136392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src/gradcam.py
可解释性热力图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06324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72783" y="3136392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train.py / evaluate.py
命令行入口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3063240"/>
            <a:ext cx="17830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21624" y="3136392"/>
            <a:ext cx="1673352" cy="49377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/>
            <a:r>
              <a:rPr sz="800" b="0">
                <a:solidFill>
                  <a:srgbClr val="17201A"/>
                </a:solidFill>
                <a:latin typeface="Microsoft YaHei"/>
              </a:rPr>
              <a:t>app.py
Gradio Top-3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63440"/>
            <a:ext cx="137160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1">
                <a:solidFill>
                  <a:srgbClr val="2F6B4F"/>
                </a:solidFill>
                <a:latin typeface="Microsoft YaHei"/>
              </a:rPr>
              <a:t>核心工程原则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5093208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33271" y="5010912"/>
            <a:ext cx="8522208" cy="29535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80" b="0">
                <a:solidFill>
                  <a:srgbClr val="17201A"/>
                </a:solidFill>
                <a:latin typeface="Microsoft YaHei"/>
              </a:rPr>
              <a:t>训练脚本可复现：固定随机种子、保存 config/history/metrics/model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5404104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1" y="5321808"/>
            <a:ext cx="8522208" cy="29535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80" b="0">
                <a:solidFill>
                  <a:srgbClr val="17201A"/>
                </a:solidFill>
                <a:latin typeface="Microsoft YaHei"/>
              </a:rPr>
              <a:t>评估脚本独立运行：测试集分类报告、混淆矩阵、推理速度统计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8680" y="5715000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1" y="5632704"/>
            <a:ext cx="8522208" cy="29535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80" b="0">
                <a:solidFill>
                  <a:srgbClr val="17201A"/>
                </a:solidFill>
                <a:latin typeface="Microsoft YaHei"/>
              </a:rPr>
              <a:t>Web 演示复用同一 checkpoint 与 transform，避免训练/部署预处理不一致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7855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实验矩阵与关键结果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覆盖 Scratch、冻结全部、冻结前 N 层、学习率和 3 种骨干网络对比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7360920" cy="329184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792" y="1636776"/>
            <a:ext cx="2039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实验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1636776"/>
            <a:ext cx="121615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骨干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1" y="1636776"/>
            <a:ext cx="194767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冻结策略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636776"/>
            <a:ext cx="71323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1636776"/>
            <a:ext cx="896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19" b="1">
                <a:solidFill>
                  <a:srgbClr val="FFFFFF"/>
                </a:solidFill>
                <a:latin typeface="Microsoft YaHei"/>
              </a:rPr>
              <a:t>参数量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901952"/>
            <a:ext cx="736092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1965960"/>
            <a:ext cx="2039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MobileNetV3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1965960"/>
            <a:ext cx="121615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small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6511" y="1965960"/>
            <a:ext cx="194767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fc_then_layer4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53912" y="1965960"/>
            <a:ext cx="71323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1965960"/>
            <a:ext cx="896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1.53M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31136"/>
            <a:ext cx="7360920" cy="329184"/>
          </a:xfrm>
          <a:prstGeom prst="rect">
            <a:avLst/>
          </a:prstGeom>
          <a:solidFill>
            <a:srgbClr val="EEF3EC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2295144"/>
            <a:ext cx="2039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ResNet50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0632" y="2295144"/>
            <a:ext cx="121615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resnet50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6511" y="2295144"/>
            <a:ext cx="194767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fc_then_layer4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53912" y="2295144"/>
            <a:ext cx="71323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96.2%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6872" y="2295144"/>
            <a:ext cx="896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23.53M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560320"/>
            <a:ext cx="736092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2624327"/>
            <a:ext cx="2039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ResNet18 lr=3e-4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70632" y="2624327"/>
            <a:ext cx="121615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resnet18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96511" y="2624327"/>
            <a:ext cx="194767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fc_then_layer4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53912" y="2624327"/>
            <a:ext cx="71323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95.8%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6872" y="2624327"/>
            <a:ext cx="896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11.18M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889504"/>
            <a:ext cx="7360920" cy="329184"/>
          </a:xfrm>
          <a:prstGeom prst="rect">
            <a:avLst/>
          </a:prstGeom>
          <a:solidFill>
            <a:srgbClr val="EEF3EC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21792" y="2953512"/>
            <a:ext cx="2039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ResNet18 lr=1e-3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2953512"/>
            <a:ext cx="121615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resnet18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1" y="2953512"/>
            <a:ext cx="194767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fc_then_layer4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3912" y="2953512"/>
            <a:ext cx="71323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95.4%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2953512"/>
            <a:ext cx="896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11.18M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218687"/>
            <a:ext cx="7360920" cy="329184"/>
          </a:xfrm>
          <a:prstGeom prst="rect">
            <a:avLst/>
          </a:prstGeom>
          <a:solidFill>
            <a:srgbClr val="FFFFFF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" y="3282695"/>
            <a:ext cx="2039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ResNet18 Scratch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70632" y="3282695"/>
            <a:ext cx="121615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resnet18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96511" y="3282695"/>
            <a:ext cx="194767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53912" y="3282695"/>
            <a:ext cx="71323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93.0%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3282695"/>
            <a:ext cx="896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11.18M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547872"/>
            <a:ext cx="7360920" cy="329184"/>
          </a:xfrm>
          <a:prstGeom prst="rect">
            <a:avLst/>
          </a:prstGeom>
          <a:solidFill>
            <a:srgbClr val="EEF3EC"/>
          </a:solidFill>
          <a:ln w="444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1792" y="3611879"/>
            <a:ext cx="2039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1">
                <a:solidFill>
                  <a:srgbClr val="17201A"/>
                </a:solidFill>
                <a:latin typeface="Microsoft YaHei"/>
              </a:rPr>
              <a:t>ResNet18 fc_only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70632" y="3611879"/>
            <a:ext cx="121615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resnet18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096511" y="3611879"/>
            <a:ext cx="194767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fc_only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53912" y="3611879"/>
            <a:ext cx="71323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89.0%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76872" y="3611879"/>
            <a:ext cx="896112" cy="2560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90" b="0">
                <a:solidFill>
                  <a:srgbClr val="647067"/>
                </a:solidFill>
                <a:latin typeface="Microsoft YaHei"/>
              </a:rPr>
              <a:t>11.18M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77677" y="1594615"/>
            <a:ext cx="173736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1" dirty="0">
                <a:solidFill>
                  <a:srgbClr val="2F6B4F"/>
                </a:solidFill>
                <a:latin typeface="Aptos"/>
              </a:rPr>
              <a:t>Accuracy Ranking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1957" y="1951231"/>
            <a:ext cx="15087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70" b="0" dirty="0">
                <a:solidFill>
                  <a:srgbClr val="17201A"/>
                </a:solidFill>
                <a:latin typeface="Microsoft YaHei"/>
              </a:rPr>
              <a:t>MobileNetV3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90888" y="1965960"/>
            <a:ext cx="21031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9390888" y="1965960"/>
            <a:ext cx="2031613" cy="82296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1548872" y="192024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1">
                <a:solidFill>
                  <a:srgbClr val="2F6B4F"/>
                </a:solidFill>
                <a:latin typeface="Aptos"/>
              </a:rPr>
              <a:t>96.6%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1957" y="2307847"/>
            <a:ext cx="15087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"/>
              </a:rPr>
              <a:t>ResNet50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390888" y="2322576"/>
            <a:ext cx="21031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9390888" y="2322576"/>
            <a:ext cx="2023201" cy="82296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1548872" y="2276856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1">
                <a:solidFill>
                  <a:srgbClr val="5F8D6A"/>
                </a:solidFill>
                <a:latin typeface="Aptos"/>
              </a:rPr>
              <a:t>96.2%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31957" y="2664462"/>
            <a:ext cx="15087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"/>
              </a:rPr>
              <a:t>ResNet18 low LR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90888" y="2679191"/>
            <a:ext cx="21031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9390888" y="2679191"/>
            <a:ext cx="2014788" cy="82296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548872" y="2633472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1">
                <a:solidFill>
                  <a:srgbClr val="5F8D6A"/>
                </a:solidFill>
                <a:latin typeface="Aptos"/>
              </a:rPr>
              <a:t>95.8%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31957" y="3021079"/>
            <a:ext cx="15087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"/>
              </a:rPr>
              <a:t>ResNet18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90888" y="3035808"/>
            <a:ext cx="21031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390888" y="3035808"/>
            <a:ext cx="2006376" cy="82296"/>
          </a:xfrm>
          <a:prstGeom prst="rect">
            <a:avLst/>
          </a:prstGeom>
          <a:solidFill>
            <a:srgbClr val="5F8D6A"/>
          </a:solidFill>
          <a:ln>
            <a:solidFill>
              <a:srgbClr val="5F8D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1548872" y="2990088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1">
                <a:solidFill>
                  <a:srgbClr val="5F8D6A"/>
                </a:solidFill>
                <a:latin typeface="Aptos"/>
              </a:rPr>
              <a:t>95.4%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1957" y="3377695"/>
            <a:ext cx="15087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"/>
              </a:rPr>
              <a:t>Scratch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90888" y="3392424"/>
            <a:ext cx="21031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9390888" y="3392424"/>
            <a:ext cx="1955901" cy="82296"/>
          </a:xfrm>
          <a:prstGeom prst="rect">
            <a:avLst/>
          </a:prstGeom>
          <a:solidFill>
            <a:srgbClr val="B58A25"/>
          </a:solidFill>
          <a:ln>
            <a:solidFill>
              <a:srgbClr val="B58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548872" y="3346704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1">
                <a:solidFill>
                  <a:srgbClr val="B58A25"/>
                </a:solidFill>
                <a:latin typeface="Aptos"/>
              </a:rPr>
              <a:t>93.0%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31957" y="3734310"/>
            <a:ext cx="150876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70" b="0">
                <a:solidFill>
                  <a:srgbClr val="17201A"/>
                </a:solidFill>
                <a:latin typeface="Microsoft YaHei"/>
              </a:rPr>
              <a:t>fc_only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90888" y="3749039"/>
            <a:ext cx="2103120" cy="82296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9390888" y="3749039"/>
            <a:ext cx="1871776" cy="82296"/>
          </a:xfrm>
          <a:prstGeom prst="rect">
            <a:avLst/>
          </a:prstGeom>
          <a:solidFill>
            <a:srgbClr val="A44E42"/>
          </a:solidFill>
          <a:ln>
            <a:solidFill>
              <a:srgbClr val="A4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548872" y="3703320"/>
            <a:ext cx="502920" cy="1645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50" b="1">
                <a:solidFill>
                  <a:srgbClr val="A44E42"/>
                </a:solidFill>
                <a:latin typeface="Aptos"/>
              </a:rPr>
              <a:t>89.0%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5257800"/>
            <a:ext cx="9784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320" b="1">
                <a:solidFill>
                  <a:srgbClr val="17201A"/>
                </a:solidFill>
                <a:latin typeface="Microsoft YaHei"/>
              </a:rPr>
              <a:t>最终选择 MobileNetV3-small：准确率最高、参数量最低、单张推理最快，适合课程项目中的轻量部署演示。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训练过程与测试集诊断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Loss/Accuracy 曲线、混淆矩阵和分类报告共同证明模型效果</a:t>
            </a:r>
          </a:p>
        </p:txBody>
      </p:sp>
      <p:pic>
        <p:nvPicPr>
          <p:cNvPr id="8" name="Picture 7" descr="trai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4754880" cy="2971800"/>
          </a:xfrm>
          <a:prstGeom prst="rect">
            <a:avLst/>
          </a:prstGeom>
        </p:spPr>
      </p:pic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554480"/>
            <a:ext cx="3977639" cy="2971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948672" y="1627632"/>
            <a:ext cx="13258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04120" y="1828800"/>
            <a:ext cx="96012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00" b="1">
                <a:solidFill>
                  <a:srgbClr val="2F6B4F"/>
                </a:solidFill>
                <a:latin typeface="Aptos"/>
              </a:rPr>
              <a:t>Best 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04120" y="2322576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68712" y="2240280"/>
            <a:ext cx="841248" cy="364845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"/>
              </a:rPr>
              <a:t>Top-1 96.6%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04120" y="2706624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268712" y="2624328"/>
            <a:ext cx="841248" cy="364845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"/>
              </a:rPr>
              <a:t>Macro-F1 96.5%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3090672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268712" y="3008376"/>
            <a:ext cx="841248" cy="364845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"/>
              </a:rPr>
              <a:t>healthy F1=1.00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20" y="3474720"/>
            <a:ext cx="50292" cy="50292"/>
          </a:xfrm>
          <a:prstGeom prst="rect">
            <a:avLst/>
          </a:prstGeom>
          <a:solidFill>
            <a:srgbClr val="B58A25"/>
          </a:solidFill>
          <a:ln>
            <a:solidFill>
              <a:srgbClr val="B58A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68712" y="3392424"/>
            <a:ext cx="841248" cy="364845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"/>
              </a:rPr>
              <a:t>Septoria F1=0.93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04120" y="3858768"/>
            <a:ext cx="50292" cy="50292"/>
          </a:xfrm>
          <a:prstGeom prst="rect">
            <a:avLst/>
          </a:prstGeom>
          <a:solidFill>
            <a:srgbClr val="647067"/>
          </a:solidFill>
          <a:ln>
            <a:solidFill>
              <a:srgbClr val="6470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268712" y="3776472"/>
            <a:ext cx="841248" cy="364845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17201A"/>
                </a:solidFill>
                <a:latin typeface="Microsoft YaHei"/>
              </a:rPr>
              <a:t>500 张测试图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66360"/>
            <a:ext cx="92354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50" b="0">
                <a:solidFill>
                  <a:srgbClr val="17201A"/>
                </a:solidFill>
                <a:latin typeface="Microsoft YaHei"/>
              </a:rPr>
              <a:t>测试集中主要误差集中在病斑纹理相近的类别；整体 Precision / Recall / F1 均达到约 0.97。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可解释性与交互演示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Grad-CAM 验证模型关注叶片病害区域；Gradio 支持上传图片实时 Top-3 预测</a:t>
            </a:r>
          </a:p>
        </p:txBody>
      </p:sp>
      <p:pic>
        <p:nvPicPr>
          <p:cNvPr id="8" name="Picture 7" descr="grad_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4160520" cy="30632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94960" y="1691640"/>
            <a:ext cx="4983480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50992" y="1965960"/>
            <a:ext cx="21945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400" b="1">
                <a:solidFill>
                  <a:srgbClr val="2F6B4F"/>
                </a:solidFill>
                <a:latin typeface="Microsoft YaHei"/>
              </a:rPr>
              <a:t>Gradio Demo 验证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50992" y="2569464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15583" y="2487168"/>
            <a:ext cx="3904488" cy="39090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上传番茄叶片图片，返回 Top-3 类别和置信度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50992" y="2980944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15583" y="2898648"/>
            <a:ext cx="3904488" cy="39090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Healthy 样本预测：Tomato___healthy，置信度 0.999996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50992" y="3392424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5583" y="3310128"/>
            <a:ext cx="3904488" cy="39090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Yellow Leaf Curl Virus 样本预测正确，置信度 0.999882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50992" y="3803904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15583" y="3721608"/>
            <a:ext cx="3904488" cy="39090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40" b="0">
                <a:solidFill>
                  <a:srgbClr val="17201A"/>
                </a:solidFill>
                <a:latin typeface="Microsoft YaHei"/>
              </a:rPr>
              <a:t>部署脚本 app.py 复用训练时的类别映射与图像预处理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57800"/>
            <a:ext cx="95097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60" b="1">
                <a:solidFill>
                  <a:srgbClr val="17201A"/>
                </a:solidFill>
                <a:latin typeface="Microsoft YaHei"/>
              </a:rPr>
              <a:t>意义：不仅能给出分类结果，还能解释模型依据，便于答辩中说明模型不是随机猜测。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solidFill>
              <a:srgbClr val="FAFA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475488"/>
            <a:ext cx="112928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75488" y="228600"/>
            <a:ext cx="5669280" cy="2011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850" b="0">
                <a:solidFill>
                  <a:srgbClr val="647067"/>
                </a:solidFill>
                <a:latin typeface="Microsoft YaHei"/>
              </a:rPr>
              <a:t>番茄病害识别检测系统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201168"/>
            <a:ext cx="6400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/>
            <a:r>
              <a:rPr sz="1000" b="1">
                <a:solidFill>
                  <a:srgbClr val="2F6B4F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85800"/>
            <a:ext cx="713232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400" b="1">
                <a:solidFill>
                  <a:srgbClr val="17201A"/>
                </a:solidFill>
                <a:latin typeface="Microsoft YaHei"/>
              </a:rPr>
              <a:t>结论与答辩要点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170432"/>
            <a:ext cx="8595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050" b="0">
                <a:solidFill>
                  <a:srgbClr val="647067"/>
                </a:solidFill>
                <a:latin typeface="Microsoft YaHei"/>
              </a:rPr>
              <a:t>项目严格覆盖课程要求，并完成进阶挑战中的交互界面与多骨干对比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737360"/>
            <a:ext cx="155448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837943"/>
            <a:ext cx="133502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达成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03704"/>
            <a:ext cx="133502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Top-1 ≥ 90%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737360"/>
            <a:ext cx="18288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15768" y="1837943"/>
            <a:ext cx="160934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完整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203704"/>
            <a:ext cx="160934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训练-评估-部署流程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737360"/>
            <a:ext cx="18288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1837943"/>
            <a:ext cx="160934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清晰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2203704"/>
            <a:ext cx="160934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模块化 PyTorch 结构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03720" y="1737360"/>
            <a:ext cx="192024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013448" y="1837943"/>
            <a:ext cx="1700784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2000" b="1">
                <a:solidFill>
                  <a:srgbClr val="2F6B4F"/>
                </a:solidFill>
                <a:latin typeface="Aptos"/>
              </a:rPr>
              <a:t>加分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2203704"/>
            <a:ext cx="1700784" cy="1828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780" b="0">
                <a:solidFill>
                  <a:srgbClr val="647067"/>
                </a:solidFill>
                <a:latin typeface="Microsoft YaHei"/>
              </a:rPr>
              <a:t>Gradio + 3 Backbone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063240"/>
            <a:ext cx="146304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100" b="1">
                <a:solidFill>
                  <a:srgbClr val="2F6B4F"/>
                </a:solidFill>
                <a:latin typeface="Microsoft YaHei"/>
              </a:rPr>
              <a:t>5分钟展示顺序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3602736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9264" y="3520440"/>
            <a:ext cx="742492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"/>
              </a:rPr>
              <a:t>先说明任务与要求对齐：10 类、90% 指标、不可 AutoML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3995928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9264" y="3913632"/>
            <a:ext cx="742492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"/>
              </a:rPr>
              <a:t>再讲核心方法：CNN Shape 流转、迁移学习冻结策略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" y="4389120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9264" y="4306824"/>
            <a:ext cx="742492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"/>
              </a:rPr>
              <a:t>随后展示工程：模块拆分、训练脚本、评估脚本、Web Demo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4782312"/>
            <a:ext cx="50292" cy="50292"/>
          </a:xfrm>
          <a:prstGeom prst="rect">
            <a:avLst/>
          </a:prstGeom>
          <a:solidFill>
            <a:srgbClr val="2F6B4F"/>
          </a:solidFill>
          <a:ln>
            <a:solidFill>
              <a:srgbClr val="2F6B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" y="4700016"/>
            <a:ext cx="7424928" cy="3735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200" b="0">
                <a:solidFill>
                  <a:srgbClr val="17201A"/>
                </a:solidFill>
                <a:latin typeface="Microsoft YaHei"/>
              </a:rPr>
              <a:t>最后用结果收束：96.6% Accuracy、Macro-F1 96.5%、推理速度和 Grad-CAM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" y="5504688"/>
            <a:ext cx="9235440" cy="9144"/>
          </a:xfrm>
          <a:prstGeom prst="rect">
            <a:avLst/>
          </a:prstGeom>
          <a:solidFill>
            <a:srgbClr val="DCE2DA"/>
          </a:solidFill>
          <a:ln>
            <a:solidFill>
              <a:srgbClr val="DCE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5742432"/>
            <a:ext cx="896112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l"/>
            <a:r>
              <a:rPr sz="1400" b="1">
                <a:solidFill>
                  <a:srgbClr val="17201A"/>
                </a:solidFill>
                <a:latin typeface="Microsoft YaHei"/>
              </a:rPr>
              <a:t>一句话总结：该系统完成了番茄叶片病害识别从数据、模型、训练、评估到交互部署的完整计算机视觉工程闭环。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757</Words>
  <Application>Microsoft Office PowerPoint</Application>
  <PresentationFormat>宽屏</PresentationFormat>
  <Paragraphs>206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喻文 郑</cp:lastModifiedBy>
  <cp:revision>2</cp:revision>
  <dcterms:created xsi:type="dcterms:W3CDTF">2013-01-27T09:14:16Z</dcterms:created>
  <dcterms:modified xsi:type="dcterms:W3CDTF">2026-06-06T09:46:15Z</dcterms:modified>
  <cp:category/>
</cp:coreProperties>
</file>