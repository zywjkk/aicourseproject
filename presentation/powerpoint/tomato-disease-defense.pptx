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人工智能基础(A) / 选题四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22960"/>
            <a:ext cx="64008" cy="1417320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86384"/>
            <a:ext cx="81381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17201A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371600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50" b="0">
                <a:solidFill>
                  <a:srgbClr val="647067"/>
                </a:solidFill>
                <a:latin typeface="Microsoft YaHei UI"/>
              </a:rPr>
              <a:t>深度学习在农业中的应用 / CNN + Transfer Learning + Gradio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38528"/>
            <a:ext cx="6675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400" b="0">
                <a:solidFill>
                  <a:srgbClr val="17201A"/>
                </a:solidFill>
                <a:latin typeface="Microsoft YaHei UI"/>
              </a:rPr>
              <a:t>PlantVillage 番茄叶片 10 类分类任务；完整覆盖数据预处理、模型训练、迁移学习、评估可视化与交互部署。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154680"/>
            <a:ext cx="173736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246120"/>
            <a:ext cx="149961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96.6%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30168"/>
            <a:ext cx="149961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测试集 Top-1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154680"/>
            <a:ext cx="173736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1" y="3246120"/>
            <a:ext cx="149961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1" y="3630168"/>
            <a:ext cx="149961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番茄病害/健康类别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154680"/>
            <a:ext cx="173736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149961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11k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3630168"/>
            <a:ext cx="149961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PlantVillage 图像规模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3154680"/>
            <a:ext cx="173736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3246120"/>
            <a:ext cx="149961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Top-3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630168"/>
            <a:ext cx="149961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网页实时预测输出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5321808"/>
            <a:ext cx="978408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559552"/>
            <a:ext cx="859536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 UI"/>
              </a:rPr>
              <a:t>答辩重点：核心原理与算法实现；不展开宏观背景，直接展示工程流程和实验结果。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课程要求对齐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把评分点转化为可检查的代码、实验和演示证据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9281160" cy="411480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728216"/>
            <a:ext cx="200253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课程要求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28216"/>
            <a:ext cx="3831335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项目实现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28216"/>
            <a:ext cx="300837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证据文件/结果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75688"/>
            <a:ext cx="9281160" cy="411480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139696"/>
            <a:ext cx="200253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完整训练脚本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139696"/>
            <a:ext cx="3831335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Dataset/DataLoader、模型、训练循环、验证评估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39696"/>
            <a:ext cx="300837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train.py + src/*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487168"/>
            <a:ext cx="9281160" cy="411480"/>
          </a:xfrm>
          <a:prstGeom prst="rect">
            <a:avLst/>
          </a:prstGeom>
          <a:solidFill>
            <a:srgbClr val="EEF3EC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551176"/>
            <a:ext cx="200253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Top-1 ≥ 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551176"/>
            <a:ext cx="3831335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最佳 MobileNetV3-small 迁移学习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51176"/>
            <a:ext cx="300837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96.6%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98648"/>
            <a:ext cx="9281160" cy="411480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2962656"/>
            <a:ext cx="200253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CNN 与 Shape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962656"/>
            <a:ext cx="3831335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从输入到分类头的 Tensor Shape 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62656"/>
            <a:ext cx="300837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model_architecture.txt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310128"/>
            <a:ext cx="9281160" cy="411480"/>
          </a:xfrm>
          <a:prstGeom prst="rect">
            <a:avLst/>
          </a:prstGeom>
          <a:solidFill>
            <a:srgbClr val="EEF3EC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3374136"/>
            <a:ext cx="200253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迁移学习冻结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374136"/>
            <a:ext cx="3831335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fc_only / fc_then_layer4 / scratch 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374136"/>
            <a:ext cx="300837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6 组实验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721608"/>
            <a:ext cx="9281160" cy="411480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3785616"/>
            <a:ext cx="200253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评估可视化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3785616"/>
            <a:ext cx="3831335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Loss/Acc、混淆矩阵、分类报告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785616"/>
            <a:ext cx="300837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outputs/experiments/*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33088"/>
            <a:ext cx="9281160" cy="411480"/>
          </a:xfrm>
          <a:prstGeom prst="rect">
            <a:avLst/>
          </a:prstGeom>
          <a:solidFill>
            <a:srgbClr val="EEF3EC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4197096"/>
            <a:ext cx="200253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进阶挑战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197096"/>
            <a:ext cx="3831335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Gradio Top-3 预测；3 骨干对比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97096"/>
            <a:ext cx="300837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app.py + 对比图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166360"/>
            <a:ext cx="87782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400" b="1">
                <a:solidFill>
                  <a:srgbClr val="2F6B4F"/>
                </a:solidFill>
                <a:latin typeface="Microsoft YaHei UI"/>
              </a:rPr>
              <a:t>交付逻辑：源码负责可复现，实验报告负责可解释，PPT/演示视频负责可展示。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数据集与预处理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PlantVillage Tomato：10 类病害/健康叶片，固定随机种子确保复现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141732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17957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10000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117957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783080"/>
            <a:ext cx="141732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874519"/>
            <a:ext cx="117957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258568"/>
            <a:ext cx="117957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1783080"/>
            <a:ext cx="141732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2504" y="1874519"/>
            <a:ext cx="117957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504" y="2258568"/>
            <a:ext cx="117957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12801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50" b="1">
                <a:solidFill>
                  <a:srgbClr val="2F6B4F"/>
                </a:solidFill>
                <a:latin typeface="Microsoft YaHei UI"/>
              </a:rPr>
              <a:t>划分策略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82696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182112"/>
            <a:ext cx="5047488" cy="35442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70" b="0">
                <a:solidFill>
                  <a:srgbClr val="17201A"/>
                </a:solidFill>
                <a:latin typeface="Microsoft YaHei UI"/>
              </a:rPr>
              <a:t>原始 train 作为训练集；原始 val 按固定 seed 1:1 拆分为验证集与测试集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30168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529584"/>
            <a:ext cx="5047488" cy="35442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70" b="0">
                <a:solidFill>
                  <a:srgbClr val="17201A"/>
                </a:solidFill>
                <a:latin typeface="Microsoft YaHei UI"/>
              </a:rPr>
              <a:t>固定 Python / NumPy / PyTorch 随机种子，报告中同步说明复现设置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77640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877056"/>
            <a:ext cx="5047488" cy="35442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70" b="0">
                <a:solidFill>
                  <a:srgbClr val="17201A"/>
                </a:solidFill>
                <a:latin typeface="Microsoft YaHei UI"/>
              </a:rPr>
              <a:t>类别顺序由 ImageFolder 读取并保存，避免预测标签与训练标签错位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737360"/>
            <a:ext cx="3977639" cy="299923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1965960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00" b="1">
                <a:solidFill>
                  <a:srgbClr val="17201A"/>
                </a:solidFill>
                <a:latin typeface="Microsoft YaHei UI"/>
              </a:rPr>
              <a:t>Transform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523744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2423160"/>
            <a:ext cx="303580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Resize: 224 × 224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2916936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2816352"/>
            <a:ext cx="303580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RandomHorizontalFlip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310127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3209544"/>
            <a:ext cx="303580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RandomRotation: ±15°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3703320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602736"/>
            <a:ext cx="303580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ToTensor + ImageNet Normalize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4096512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6872" y="3995928"/>
            <a:ext cx="303580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Valid/Test 仅确定性预处理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CNN 核心结构与 Tensor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从局部纹理到病害类别：卷积特征逐层抽象，分类头输出 10 维概率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84831"/>
            <a:ext cx="13258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57984"/>
            <a:ext cx="1179576" cy="6035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Input
[B,3,224,224]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2084831"/>
            <a:ext cx="16002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2157984"/>
            <a:ext cx="1453896" cy="6035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Conv/BN/ReLU
[B,64,112,112]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2084831"/>
            <a:ext cx="16002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2157984"/>
            <a:ext cx="1453896" cy="6035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MaxPool+Blocks
[B,64,56,56]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084831"/>
            <a:ext cx="14173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157984"/>
            <a:ext cx="1271016" cy="6035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Layer2-4
[B,512,7,7]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8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2084831"/>
            <a:ext cx="1508760" cy="713232"/>
          </a:xfrm>
          <a:prstGeom prst="roundRect">
            <a:avLst/>
          </a:prstGeom>
          <a:solidFill>
            <a:srgbClr val="EEF3EC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2157984"/>
            <a:ext cx="1362456" cy="6035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AvgPool+Linear
[B,10]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56432"/>
            <a:ext cx="12801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50" b="1">
                <a:solidFill>
                  <a:srgbClr val="2F6B4F"/>
                </a:solidFill>
                <a:latin typeface="Microsoft YaHei UI"/>
              </a:rPr>
              <a:t>关键组件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03904"/>
            <a:ext cx="950976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300" b="0">
                <a:solidFill>
                  <a:srgbClr val="17201A"/>
                </a:solidFill>
                <a:latin typeface="Microsoft YaHei UI"/>
              </a:rPr>
              <a:t>Conv2D 提取叶片斑点、边缘和颜色纹理；MaxPool 降低空间分辨率并增强平移鲁棒性；ReLU 引入非线性；Dropout/权重衰减缓解过拟合；Linear 将高层语义映射到 10 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8686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50" b="0">
                <a:solidFill>
                  <a:srgbClr val="647067"/>
                </a:solidFill>
                <a:latin typeface="Microsoft YaHei UI"/>
              </a:rPr>
              <a:t>报告中保存模型结构、参数量和 Tensor Shape 变换，对应课程“模型架构图/Shape”要求。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迁移学习与冻结策略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冻结不是装饰项：它决定哪些 ImageNet 特征被保留，哪些层适配番茄病害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19072"/>
            <a:ext cx="8869680" cy="502920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783080"/>
            <a:ext cx="17739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783080"/>
            <a:ext cx="20025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训练参数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783080"/>
            <a:ext cx="346557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104241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测试准确率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21991"/>
            <a:ext cx="8869680" cy="502920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285999"/>
            <a:ext cx="17739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From Scratch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285999"/>
            <a:ext cx="20025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全模型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85999"/>
            <a:ext cx="346557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观察无预训练基线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5999"/>
            <a:ext cx="104241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93.0%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724912"/>
            <a:ext cx="8869680" cy="502920"/>
          </a:xfrm>
          <a:prstGeom prst="rect">
            <a:avLst/>
          </a:prstGeom>
          <a:solidFill>
            <a:srgbClr val="EEF3EC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788920"/>
            <a:ext cx="17739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fc_only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788920"/>
            <a:ext cx="20025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仅最后分类层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788920"/>
            <a:ext cx="346557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验证“冻结全部 backbone”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88920"/>
            <a:ext cx="104241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89.0%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27832"/>
            <a:ext cx="8869680" cy="502920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3291840"/>
            <a:ext cx="17739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fc_then_layer4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291840"/>
            <a:ext cx="200253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分类层 + 尾部特征层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291840"/>
            <a:ext cx="346557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冻结前面 N 层，微调高层语义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91840"/>
            <a:ext cx="1042416" cy="4297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95.4%~96.6%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4069080"/>
            <a:ext cx="8138160" cy="71323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4315968"/>
            <a:ext cx="12801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1">
                <a:solidFill>
                  <a:srgbClr val="2F6B4F"/>
                </a:solidFill>
                <a:latin typeface="Microsoft YaHei UI"/>
              </a:rPr>
              <a:t>冻结前面 N 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279392"/>
            <a:ext cx="1143000" cy="2377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315968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20" b="0">
                <a:solidFill>
                  <a:srgbClr val="647067"/>
                </a:solidFill>
                <a:latin typeface="Microsoft YaHei UI"/>
              </a:rPr>
              <a:t>浅层纹理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279392"/>
            <a:ext cx="1143000" cy="2377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4315968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20" b="0">
                <a:solidFill>
                  <a:srgbClr val="647067"/>
                </a:solidFill>
                <a:latin typeface="Microsoft YaHei UI"/>
              </a:rPr>
              <a:t>中层形状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4279392"/>
            <a:ext cx="1143000" cy="237744"/>
          </a:xfrm>
          <a:prstGeom prst="rect">
            <a:avLst/>
          </a:prstGeom>
          <a:solidFill>
            <a:srgbClr val="EEF3EC"/>
          </a:solidFill>
          <a:ln>
            <a:solidFill>
              <a:srgbClr val="EE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315968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20" b="0">
                <a:solidFill>
                  <a:srgbClr val="2F6B4F"/>
                </a:solidFill>
                <a:latin typeface="Microsoft YaHei UI"/>
              </a:rPr>
              <a:t>高层语义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4279392"/>
            <a:ext cx="1143000" cy="237744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4315968"/>
            <a:ext cx="11430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Microsoft YaHei UI"/>
              </a:rPr>
              <a:t>分类头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20640"/>
            <a:ext cx="8321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70" b="1">
                <a:solidFill>
                  <a:srgbClr val="17201A"/>
                </a:solidFill>
                <a:latin typeface="Microsoft YaHei UI"/>
              </a:rPr>
              <a:t>结论：仅训练分类头不足以适配病害细粒度差异；解冻尾部特征层后，迁移学习明显优于从头训练和 fc_only。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工程实现结构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按 PyTorch 项目组织拆分，训练、评估、部署互相解耦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56231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src/config.py
实验配置 / seed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78308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856231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src/data.py
Dataset / DataLoader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78308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856231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src/models.py
Backbone / Freeze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78308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856231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src/trainer.py
训练循环 / 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306324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392" y="3136392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src/evaluator.py
报告 / 混淆矩阵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306324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2" y="3136392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src/gradcam.py
可解释性热力图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6324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136392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train.py / evaluate.py
命令行入口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063240"/>
            <a:ext cx="178308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3136392"/>
            <a:ext cx="1636776" cy="49377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750" b="0">
                <a:solidFill>
                  <a:srgbClr val="17201A"/>
                </a:solidFill>
                <a:latin typeface="Microsoft YaHei UI"/>
              </a:rPr>
              <a:t>app.py
Gradio Top-3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63440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50" b="1">
                <a:solidFill>
                  <a:srgbClr val="2F6B4F"/>
                </a:solidFill>
                <a:latin typeface="Microsoft YaHei UI"/>
              </a:rPr>
              <a:t>核心工程原则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111496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5010912"/>
            <a:ext cx="8522208" cy="317113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80" b="0">
                <a:solidFill>
                  <a:srgbClr val="17201A"/>
                </a:solidFill>
                <a:latin typeface="Microsoft YaHei UI"/>
              </a:rPr>
              <a:t>训练脚本可复现：固定随机种子、保存 config/history/metrics/model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422392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5321808"/>
            <a:ext cx="8522208" cy="317113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80" b="0">
                <a:solidFill>
                  <a:srgbClr val="17201A"/>
                </a:solidFill>
                <a:latin typeface="Microsoft YaHei UI"/>
              </a:rPr>
              <a:t>评估脚本独立运行：测试集分类报告、混淆矩阵、推理速度统计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733288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5632704"/>
            <a:ext cx="8522208" cy="317113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80" b="0">
                <a:solidFill>
                  <a:srgbClr val="17201A"/>
                </a:solidFill>
                <a:latin typeface="Microsoft YaHei UI"/>
              </a:rPr>
              <a:t>Web 演示复用同一 checkpoint 与 transform，避免训练/部署预处理不一致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实验矩阵与关键结果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覆盖 Scratch、冻结全部、冻结前 N 层、学习率和 3 种骨干网络对比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715000" cy="329184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63677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636776"/>
            <a:ext cx="81381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骨干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36776"/>
            <a:ext cx="136245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冻结策略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36776"/>
            <a:ext cx="53949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 UI"/>
              </a:rPr>
              <a:t>参数量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01952"/>
            <a:ext cx="5715000" cy="329184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65960"/>
            <a:ext cx="163677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MobileNetV3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1965960"/>
            <a:ext cx="81381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965960"/>
            <a:ext cx="136245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fc_then_layer4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965960"/>
            <a:ext cx="53949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965960"/>
            <a:ext cx="63093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1.53M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1136"/>
            <a:ext cx="5715000" cy="329184"/>
          </a:xfrm>
          <a:prstGeom prst="rect">
            <a:avLst/>
          </a:prstGeom>
          <a:solidFill>
            <a:srgbClr val="EEF3EC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295144"/>
            <a:ext cx="163677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ResNet50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295144"/>
            <a:ext cx="81381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resnet50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295144"/>
            <a:ext cx="136245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fc_then_layer4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295144"/>
            <a:ext cx="53949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295144"/>
            <a:ext cx="63093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23.53M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60320"/>
            <a:ext cx="5715000" cy="329184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624327"/>
            <a:ext cx="163677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ResNet18 lr=3e-4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2624327"/>
            <a:ext cx="81381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resnet18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624327"/>
            <a:ext cx="136245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fc_then_layer4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624327"/>
            <a:ext cx="53949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95.8%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624327"/>
            <a:ext cx="63093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11.18M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889504"/>
            <a:ext cx="5715000" cy="329184"/>
          </a:xfrm>
          <a:prstGeom prst="rect">
            <a:avLst/>
          </a:prstGeom>
          <a:solidFill>
            <a:srgbClr val="EEF3EC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953512"/>
            <a:ext cx="163677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ResNet18 lr=1e-3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53512"/>
            <a:ext cx="81381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resnet18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2953512"/>
            <a:ext cx="136245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fc_then_layer4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953512"/>
            <a:ext cx="53949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95.4%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953512"/>
            <a:ext cx="63093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11.18M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218687"/>
            <a:ext cx="5715000" cy="329184"/>
          </a:xfrm>
          <a:prstGeom prst="rect">
            <a:avLst/>
          </a:prstGeom>
          <a:solidFill>
            <a:srgbClr val="F7FAF5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282695"/>
            <a:ext cx="163677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ResNet18 Scratch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282695"/>
            <a:ext cx="81381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resnet18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282695"/>
            <a:ext cx="136245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3282695"/>
            <a:ext cx="53949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93.0%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282695"/>
            <a:ext cx="63093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11.18M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547872"/>
            <a:ext cx="5715000" cy="329184"/>
          </a:xfrm>
          <a:prstGeom prst="rect">
            <a:avLst/>
          </a:prstGeom>
          <a:solidFill>
            <a:srgbClr val="EEF3EC"/>
          </a:solidFill>
          <a:ln w="444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611879"/>
            <a:ext cx="163677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17201A"/>
                </a:solidFill>
                <a:latin typeface="Microsoft YaHei UI"/>
              </a:rPr>
              <a:t>ResNet18 fc_only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3611879"/>
            <a:ext cx="81381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resnet18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3611879"/>
            <a:ext cx="136245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fc_only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3611879"/>
            <a:ext cx="53949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89.0%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611879"/>
            <a:ext cx="630936" cy="2560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0">
                <a:solidFill>
                  <a:srgbClr val="647067"/>
                </a:solidFill>
                <a:latin typeface="Microsoft YaHei UI"/>
              </a:rPr>
              <a:t>11.18M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20840" y="1508760"/>
            <a:ext cx="4617720" cy="2880360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1709928"/>
            <a:ext cx="173736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50" b="1">
                <a:solidFill>
                  <a:srgbClr val="2F6B4F"/>
                </a:solidFill>
                <a:latin typeface="Microsoft YaHei UI"/>
              </a:rPr>
              <a:t>Accuracy Ranking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2066543"/>
            <a:ext cx="1508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 UI"/>
              </a:rPr>
              <a:t>MobileNetV3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67928" y="2103120"/>
            <a:ext cx="23317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67928" y="2103120"/>
            <a:ext cx="2252441" cy="82296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54512" y="2057400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2F6B4F"/>
                </a:solidFill>
                <a:latin typeface="Microsoft YaHei UI"/>
              </a:rPr>
              <a:t>96.6%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395727"/>
            <a:ext cx="1508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 UI"/>
              </a:rPr>
              <a:t>ResNet50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67928" y="2432303"/>
            <a:ext cx="23317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67928" y="2432303"/>
            <a:ext cx="2243114" cy="82296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54512" y="2386584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5F8D6A"/>
                </a:solidFill>
                <a:latin typeface="Microsoft YaHei UI"/>
              </a:rPr>
              <a:t>96.2%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2724911"/>
            <a:ext cx="1508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 UI"/>
              </a:rPr>
              <a:t>ResNet18 low LR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67928" y="2761487"/>
            <a:ext cx="23317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67928" y="2761487"/>
            <a:ext cx="2233787" cy="82296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54512" y="271576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5F8D6A"/>
                </a:solidFill>
                <a:latin typeface="Microsoft YaHei UI"/>
              </a:rPr>
              <a:t>95.8%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3054096"/>
            <a:ext cx="1508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 UI"/>
              </a:rPr>
              <a:t>ResNet18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67928" y="3090672"/>
            <a:ext cx="23317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67928" y="3090672"/>
            <a:ext cx="2224460" cy="82296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54512" y="3044952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5F8D6A"/>
                </a:solidFill>
                <a:latin typeface="Microsoft YaHei UI"/>
              </a:rPr>
              <a:t>95.4%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3383279"/>
            <a:ext cx="1508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 UI"/>
              </a:rPr>
              <a:t>Scratch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67928" y="3419856"/>
            <a:ext cx="23317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67928" y="3419856"/>
            <a:ext cx="2168499" cy="82296"/>
          </a:xfrm>
          <a:prstGeom prst="rect">
            <a:avLst/>
          </a:prstGeom>
          <a:solidFill>
            <a:srgbClr val="B58A25"/>
          </a:solidFill>
          <a:ln>
            <a:solidFill>
              <a:srgbClr val="B58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54512" y="3374136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B58A25"/>
                </a:solidFill>
                <a:latin typeface="Microsoft YaHei UI"/>
              </a:rPr>
              <a:t>93.0%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5160" y="3712463"/>
            <a:ext cx="1508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 UI"/>
              </a:rPr>
              <a:t>fc_only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67928" y="3749039"/>
            <a:ext cx="23317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567928" y="3749039"/>
            <a:ext cx="2075230" cy="82296"/>
          </a:xfrm>
          <a:prstGeom prst="rect">
            <a:avLst/>
          </a:prstGeom>
          <a:solidFill>
            <a:srgbClr val="A44E42"/>
          </a:solidFill>
          <a:ln>
            <a:solidFill>
              <a:srgbClr val="A4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54512" y="3703320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50" b="1">
                <a:solidFill>
                  <a:srgbClr val="A44E42"/>
                </a:solidFill>
                <a:latin typeface="Microsoft YaHei UI"/>
              </a:rPr>
              <a:t>89.0%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5257800"/>
            <a:ext cx="978408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320" b="1">
                <a:solidFill>
                  <a:srgbClr val="17201A"/>
                </a:solidFill>
                <a:latin typeface="Microsoft YaHei UI"/>
              </a:rPr>
              <a:t>最终选择 MobileNetV3-small：准确率最高、参数量最低、单张推理最快，适合课程项目中的轻量部署演示。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训练过程与测试集诊断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Loss/Accuracy 曲线、混淆矩阵和分类报告共同证明模型效果</a:t>
            </a:r>
          </a:p>
        </p:txBody>
      </p:sp>
      <p:pic>
        <p:nvPicPr>
          <p:cNvPr id="8" name="Picture 7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4754880" cy="2971800"/>
          </a:xfrm>
          <a:prstGeom prst="rect">
            <a:avLst/>
          </a:prstGeom>
        </p:spPr>
      </p:pic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54480"/>
            <a:ext cx="3977639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948672" y="1627632"/>
            <a:ext cx="1325880" cy="2788920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1828800"/>
            <a:ext cx="9601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00" b="1">
                <a:solidFill>
                  <a:srgbClr val="2F6B4F"/>
                </a:solidFill>
                <a:latin typeface="Microsoft YaHei UI"/>
              </a:rPr>
              <a:t>Best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340864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8712" y="2240280"/>
            <a:ext cx="841248" cy="3917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 UI"/>
              </a:rPr>
              <a:t>Top-1 96.6%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2724912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8712" y="2624328"/>
            <a:ext cx="841248" cy="3917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 UI"/>
              </a:rPr>
              <a:t>Macro-F1 96.5%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3108960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68712" y="3008376"/>
            <a:ext cx="841248" cy="3917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 UI"/>
              </a:rPr>
              <a:t>healthy F1=1.00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20" y="3493008"/>
            <a:ext cx="41148" cy="41148"/>
          </a:xfrm>
          <a:prstGeom prst="rect">
            <a:avLst/>
          </a:prstGeom>
          <a:solidFill>
            <a:srgbClr val="B58A25"/>
          </a:solidFill>
          <a:ln>
            <a:solidFill>
              <a:srgbClr val="B58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8712" y="3392424"/>
            <a:ext cx="841248" cy="3917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 UI"/>
              </a:rPr>
              <a:t>Septoria F1=0.93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3877056"/>
            <a:ext cx="41148" cy="41148"/>
          </a:xfrm>
          <a:prstGeom prst="rect">
            <a:avLst/>
          </a:prstGeom>
          <a:solidFill>
            <a:srgbClr val="647067"/>
          </a:solidFill>
          <a:ln>
            <a:solidFill>
              <a:srgbClr val="647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8712" y="3776472"/>
            <a:ext cx="841248" cy="3917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 UI"/>
              </a:rPr>
              <a:t>500 张测试图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66360"/>
            <a:ext cx="9235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50" b="0">
                <a:solidFill>
                  <a:srgbClr val="17201A"/>
                </a:solidFill>
                <a:latin typeface="Microsoft YaHei UI"/>
              </a:rPr>
              <a:t>测试集中主要误差集中在病斑纹理相近的类别；整体 Precision / Recall / F1 均达到约 0.97。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可解释性与交互演示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Grad-CAM 验证模型关注叶片病害区域；Gradio 支持上传图片实时 Top-3 预测</a:t>
            </a:r>
          </a:p>
        </p:txBody>
      </p:sp>
      <p:pic>
        <p:nvPicPr>
          <p:cNvPr id="8" name="Picture 7" descr="grad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4160520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4960" y="1691640"/>
            <a:ext cx="4983480" cy="2697480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1965960"/>
            <a:ext cx="21945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400" b="1">
                <a:solidFill>
                  <a:srgbClr val="2F6B4F"/>
                </a:solidFill>
                <a:latin typeface="Microsoft YaHei UI"/>
              </a:rPr>
              <a:t>Gradio Demo 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587752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15583" y="2487168"/>
            <a:ext cx="3904488" cy="419709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上传番茄叶片图片，返回 Top-3 类别和置信度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2999232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5583" y="2898648"/>
            <a:ext cx="3904488" cy="419709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Healthy 样本预测：Tomato___healthy，置信度 0.999996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0992" y="3410712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5583" y="3310128"/>
            <a:ext cx="3904488" cy="419709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Yellow Leaf Curl Virus 样本预测正确，置信度 0.999882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3822192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3" y="3721608"/>
            <a:ext cx="3904488" cy="419709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 UI"/>
              </a:rPr>
              <a:t>部署脚本 app.py 复用训练时的类别映射与图像预处理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57800"/>
            <a:ext cx="95097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60" b="1">
                <a:solidFill>
                  <a:srgbClr val="17201A"/>
                </a:solidFill>
                <a:latin typeface="Microsoft YaHei UI"/>
              </a:rPr>
              <a:t>意义：不仅能给出分类结果，还能解释模型依据，便于答辩中说明模型不是随机猜测。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9456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819" b="0">
                <a:solidFill>
                  <a:srgbClr val="647067"/>
                </a:solidFill>
                <a:latin typeface="Microsoft YaHei U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Microsoft YaHei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250" b="1">
                <a:solidFill>
                  <a:srgbClr val="17201A"/>
                </a:solidFill>
                <a:latin typeface="Microsoft YaHei UI"/>
              </a:rPr>
              <a:t>结论与答辩要点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9576"/>
            <a:ext cx="8595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019" b="0">
                <a:solidFill>
                  <a:srgbClr val="647067"/>
                </a:solidFill>
                <a:latin typeface="Microsoft YaHei UI"/>
              </a:rPr>
              <a:t>项目严格覆盖课程要求，并完成进阶挑战中的交互界面与多骨干对比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37360"/>
            <a:ext cx="155448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31673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达成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31673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Top-1 ≥ 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737360"/>
            <a:ext cx="182880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828800"/>
            <a:ext cx="159105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212848"/>
            <a:ext cx="159105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训练-评估-部署流程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737360"/>
            <a:ext cx="182880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1828800"/>
            <a:ext cx="159105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清晰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212848"/>
            <a:ext cx="159105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模块化 PyTorch 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737360"/>
            <a:ext cx="1920240" cy="804672"/>
          </a:xfrm>
          <a:prstGeom prst="roundRect">
            <a:avLst/>
          </a:prstGeom>
          <a:solidFill>
            <a:srgbClr val="F7FAF5"/>
          </a:solidFill>
          <a:ln w="9525">
            <a:solidFill>
              <a:srgbClr val="CD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1828800"/>
            <a:ext cx="1682496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900" b="1">
                <a:solidFill>
                  <a:srgbClr val="2F6B4F"/>
                </a:solidFill>
                <a:latin typeface="Microsoft YaHei UI"/>
              </a:rPr>
              <a:t>加分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212848"/>
            <a:ext cx="1682496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740" b="0">
                <a:solidFill>
                  <a:srgbClr val="647067"/>
                </a:solidFill>
                <a:latin typeface="Microsoft YaHei UI"/>
              </a:rPr>
              <a:t>Gradio + 3 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063240"/>
            <a:ext cx="146304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F6B4F"/>
                </a:solidFill>
                <a:latin typeface="Microsoft YaHei UI"/>
              </a:rPr>
              <a:t>5分钟展示顺序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3621024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520440"/>
            <a:ext cx="742492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 UI"/>
              </a:rPr>
              <a:t>先说明任务与要求对齐：10 类、90% 指标、不可 AutoML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4014216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3913632"/>
            <a:ext cx="742492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 UI"/>
              </a:rPr>
              <a:t>再讲核心方法：CNN Shape 流转、迁移学习冻结策略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4407408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306824"/>
            <a:ext cx="742492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 UI"/>
              </a:rPr>
              <a:t>随后展示工程：模块拆分、训练脚本、评估脚本、Web Demo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4800600"/>
            <a:ext cx="41148" cy="41148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700016"/>
            <a:ext cx="7424928" cy="401055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 UI"/>
              </a:rPr>
              <a:t>最后用结果收束：96.6% Accuracy、Macro-F1 96.5%、推理速度和 Grad-CAM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" y="5504688"/>
            <a:ext cx="92354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742432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400" b="1">
                <a:solidFill>
                  <a:srgbClr val="17201A"/>
                </a:solidFill>
                <a:latin typeface="Microsoft YaHei UI"/>
              </a:rPr>
              <a:t>一句话总结：该系统完成了番茄叶片病害识别从数据、模型、训练、评估到交互部署的完整计算机视觉工程闭环。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